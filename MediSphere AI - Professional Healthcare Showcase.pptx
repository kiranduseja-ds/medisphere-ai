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Urbanist Medium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  <p:embeddedFont>
      <p:font typeface="Space Grotesk Light"/>
      <p:regular r:id="rId27"/>
      <p:bold r:id="rId28"/>
    </p:embeddedFont>
    <p:embeddedFont>
      <p:font typeface="Space Grotesk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bold.fntdata"/><Relationship Id="rId22" Type="http://schemas.openxmlformats.org/officeDocument/2006/relationships/font" Target="fonts/UrbanistMedium-boldItalic.fntdata"/><Relationship Id="rId21" Type="http://schemas.openxmlformats.org/officeDocument/2006/relationships/font" Target="fonts/UrbanistMedium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28" Type="http://schemas.openxmlformats.org/officeDocument/2006/relationships/font" Target="fonts/SpaceGroteskLight-bold.fntdata"/><Relationship Id="rId27" Type="http://schemas.openxmlformats.org/officeDocument/2006/relationships/font" Target="fonts/SpaceGroteskL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aceGrotes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SpaceGrotesk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UrbanistMedium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10.png"/><Relationship Id="rId8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11" Type="http://schemas.openxmlformats.org/officeDocument/2006/relationships/image" Target="../media/image23.png"/><Relationship Id="rId10" Type="http://schemas.openxmlformats.org/officeDocument/2006/relationships/image" Target="../media/image18.png"/><Relationship Id="rId12" Type="http://schemas.openxmlformats.org/officeDocument/2006/relationships/image" Target="../media/image28.png"/><Relationship Id="rId9" Type="http://schemas.openxmlformats.org/officeDocument/2006/relationships/image" Target="../media/image20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34.png"/><Relationship Id="rId5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27.png"/><Relationship Id="rId5" Type="http://schemas.openxmlformats.org/officeDocument/2006/relationships/image" Target="../media/image17.png"/><Relationship Id="rId6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Relationship Id="rId7" Type="http://schemas.openxmlformats.org/officeDocument/2006/relationships/image" Target="../media/image31.png"/><Relationship Id="rId8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260645" y="2471737"/>
            <a:ext cx="5670708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MEDISPHERE </a:t>
            </a:r>
            <a:r>
              <a:rPr b="1" i="0" lang="en-US" sz="600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471862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Next-Generation Healthcare Intelligence Platform powered by Agentic AI and Retrieval-Augmented Generation (RAG).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715000" y="2712243"/>
            <a:ext cx="762000" cy="381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95275" y="2940843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VISION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3883818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Bridging the gap between raw medical data and actionable clinical intelligence using autonomous reasoning agents.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71500" y="1094035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AGENTIC AI REASONING</a:t>
            </a:r>
            <a:endParaRPr/>
          </a:p>
        </p:txBody>
      </p:sp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2246560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More than just Chat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2894260"/>
            <a:ext cx="49530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Our agents don't just find text; they reason across patient history, current symptoms, and clinical guidelines to suggest the next logical step in care.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4070598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Using autonomous task planning, MediSphere AI identifies critical risks before they escalate.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37605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571500" y="903535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RAG-POWERED ASSISTANT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571500" y="3073449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Contextual Intelligence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571500" y="3578274"/>
            <a:ext cx="52387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MediSphere uses Retrieval-Augmented Generation (RAG) to ground every answer in clinical reality.</a:t>
            </a:r>
            <a:endParaRPr/>
          </a:p>
        </p:txBody>
      </p:sp>
      <p:pic>
        <p:nvPicPr>
          <p:cNvPr descr="image.png"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47130"/>
            <a:ext cx="52197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914400" y="4299793"/>
            <a:ext cx="381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952500" y="4302174"/>
            <a:ext cx="48577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Eliminates AI hallucinations with source grounding.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914400" y="4571255"/>
            <a:ext cx="381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952500" y="4573637"/>
            <a:ext cx="48577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Scales with your custom medical documentation.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914400" y="4842718"/>
            <a:ext cx="381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952500" y="4845099"/>
            <a:ext cx="48577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Provides actionable summaries for clinicians.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89360"/>
            <a:ext cx="11049000" cy="449713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571500" y="903535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REDUCING READMISSION RISK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571500" y="4811762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MediSphere AI achieves a 90% confidence score in identifying high-risk patients during the triage phase.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66268"/>
            <a:ext cx="3492549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766268"/>
            <a:ext cx="3492549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766268"/>
            <a:ext cx="3492549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/>
        </p:nvSpPr>
        <p:spPr>
          <a:xfrm>
            <a:off x="571500" y="903535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 CAPABILITIES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794225" y="3785443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Patient Analysis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866775" y="4290268"/>
            <a:ext cx="2901999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Detailed risk scoring based on longitudinal history and admissions.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4572524" y="3785443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AI Assistant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4645074" y="4290268"/>
            <a:ext cx="2901999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24/7 symptom screening and preliminary diagnostic support.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8350824" y="3785443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Emergency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8423374" y="4290268"/>
            <a:ext cx="2901999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Real-time detection of high-risk cardiac or respiratory symptoms.</a:t>
            </a:r>
            <a:endParaRPr/>
          </a:p>
        </p:txBody>
      </p:sp>
      <p:pic>
        <p:nvPicPr>
          <p:cNvPr descr="image.png" id="144" name="Google Shape;14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7200" y="309011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81687" y="3090118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59987" y="3090118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80493"/>
            <a:ext cx="3492549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80493"/>
            <a:ext cx="3492549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80493"/>
            <a:ext cx="3492549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3900" y="2432893"/>
            <a:ext cx="318774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02199" y="2432893"/>
            <a:ext cx="318774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80499" y="2432893"/>
            <a:ext cx="3187749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571500" y="903535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TECHNOLOGY STACK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644206" y="4414093"/>
            <a:ext cx="334713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Agentic AI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723900" y="4918918"/>
            <a:ext cx="3187749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Goal-oriented reasoning and autonomous execution.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4422505" y="4414093"/>
            <a:ext cx="334713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RAG Pipeline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4502199" y="4918918"/>
            <a:ext cx="3187749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Efficient retrieval from clinical knowledge bases.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8200805" y="4414093"/>
            <a:ext cx="334713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Streamlit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8280499" y="4918918"/>
            <a:ext cx="3187749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Seamless, interactive healthcare data dashboards.</a:t>
            </a:r>
            <a:endParaRPr/>
          </a:p>
        </p:txBody>
      </p:sp>
      <p:pic>
        <p:nvPicPr>
          <p:cNvPr descr="image.png" id="165" name="Google Shape;165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3425" y="2442418"/>
            <a:ext cx="3168699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11724" y="2442418"/>
            <a:ext cx="3168699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90024" y="2442418"/>
            <a:ext cx="3168699" cy="16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5225" y="4304704"/>
            <a:ext cx="5486400" cy="69978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571500" y="903535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ACCURACY AND TRUST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571500" y="3371105"/>
            <a:ext cx="256222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87%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3705225" y="3337917"/>
            <a:ext cx="576072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Global Accuracy Rate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3705225" y="3842742"/>
            <a:ext cx="54864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Achieving state-of-the-art precision in medical information retrieval.</a:t>
            </a:r>
            <a:endParaRPr/>
          </a:p>
        </p:txBody>
      </p:sp>
      <p:pic>
        <p:nvPicPr>
          <p:cNvPr descr="image.png" id="178" name="Google Shape;17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33825" y="4495204"/>
            <a:ext cx="5067300" cy="318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723405"/>
            <a:ext cx="5238750" cy="26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571500" y="903535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AGENTIC AI?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6560820" y="3285380"/>
            <a:ext cx="48806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Impact Summary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6677025" y="3790205"/>
            <a:ext cx="4648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By moving beyond simple keyword search to true reasoning, MediSphere AI acts as a digital co-pilot for healthcare providers, reducing administrative load by up to 40%.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571500" y="2942480"/>
            <a:ext cx="52387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Autonomous Planning: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Agents break down complex symptoms into logical investigation steps.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571500" y="3723530"/>
            <a:ext cx="52387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 Grounding: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Every diagnostic hint is mapped back to clinical literature.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571500" y="4504580"/>
            <a:ext cx="52387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Real-time Iteration: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Self-correcting logic ensures the most relevant data is fetched first.</a:t>
            </a:r>
            <a:endParaRPr/>
          </a:p>
        </p:txBody>
      </p:sp>
      <p:pic>
        <p:nvPicPr>
          <p:cNvPr descr="image.png" id="191" name="Google Shape;19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75818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56868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37918"/>
            <a:ext cx="1809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3587" y="1857375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1595437" y="2714625"/>
            <a:ext cx="90011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750" u="none" cap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"AI will not replace physicians, but physicians who use AI will replace those who don't."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4714875" y="4429125"/>
            <a:ext cx="2762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— The Future of Healthcare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7575" y="2864643"/>
            <a:ext cx="5276850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/>
          <p:nvPr/>
        </p:nvSpPr>
        <p:spPr>
          <a:xfrm>
            <a:off x="5715000" y="1588293"/>
            <a:ext cx="762000" cy="381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295275" y="1816893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TRY THE LIVE APP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571500" y="5007768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Scan clinical symptoms, analyze patient risk, and explore agentic intelligence today.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3762375" y="3474243"/>
            <a:ext cx="4667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medisphere-ai-kd.streamlit.app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4"/>
          <p:cNvSpPr txBox="1"/>
          <p:nvPr/>
        </p:nvSpPr>
        <p:spPr>
          <a:xfrm>
            <a:off x="3415664" y="2228850"/>
            <a:ext cx="536067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/>
          </a:p>
        </p:txBody>
      </p:sp>
      <p:sp>
        <p:nvSpPr>
          <p:cNvPr id="218" name="Google Shape;218;p24"/>
          <p:cNvSpPr txBox="1"/>
          <p:nvPr/>
        </p:nvSpPr>
        <p:spPr>
          <a:xfrm>
            <a:off x="3986212" y="3448050"/>
            <a:ext cx="42195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Let's transform healthcare together.</a:t>
            </a:r>
            <a:endParaRPr/>
          </a:p>
        </p:txBody>
      </p:sp>
      <p:pic>
        <p:nvPicPr>
          <p:cNvPr descr="image.png" id="219" name="Google Shape;21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1612" y="4324350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9312" y="4324350"/>
            <a:ext cx="2952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5587" y="43243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5"/>
          <p:cNvSpPr txBox="1"/>
          <p:nvPr/>
        </p:nvSpPr>
        <p:spPr>
          <a:xfrm>
            <a:off x="571500" y="903535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/>
          </a:p>
        </p:txBody>
      </p:sp>
      <p:sp>
        <p:nvSpPr>
          <p:cNvPr id="228" name="Google Shape;228;p25"/>
          <p:cNvSpPr/>
          <p:nvPr/>
        </p:nvSpPr>
        <p:spPr>
          <a:xfrm>
            <a:off x="571500" y="2028080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571500" y="297105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5"/>
          <p:cNvSpPr/>
          <p:nvPr/>
        </p:nvSpPr>
        <p:spPr>
          <a:xfrm>
            <a:off x="571500" y="374258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5"/>
          <p:cNvSpPr/>
          <p:nvPr/>
        </p:nvSpPr>
        <p:spPr>
          <a:xfrm>
            <a:off x="571500" y="451410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571500" y="29615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571500" y="29615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571500" y="373305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571500" y="373305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571500" y="450458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571500" y="450458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571500" y="52761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571500" y="52761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0" name="Google Shape;24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566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/>
          <p:nvPr/>
        </p:nvSpPr>
        <p:spPr>
          <a:xfrm>
            <a:off x="1666875" y="2170955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https://img.freepik.com/premium-photo/futuristic-medical-device-with-blue-lights-modern-clinic-visualize-sleek-futuristic-medical-device-that-combines-traditional-health-monitoring-tools-with-cuttingedge-ai-technology_538213-87712.jpg</a:t>
            </a:r>
            <a:endParaRPr/>
          </a:p>
        </p:txBody>
      </p:sp>
      <p:sp>
        <p:nvSpPr>
          <p:cNvPr id="242" name="Google Shape;242;p25"/>
          <p:cNvSpPr txBox="1"/>
          <p:nvPr/>
        </p:nvSpPr>
        <p:spPr>
          <a:xfrm>
            <a:off x="1666875" y="259005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www.freepik.com</a:t>
            </a:r>
            <a:endParaRPr/>
          </a:p>
        </p:txBody>
      </p:sp>
      <p:pic>
        <p:nvPicPr>
          <p:cNvPr descr="image.png" id="243" name="Google Shape;24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1393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5"/>
          <p:cNvSpPr txBox="1"/>
          <p:nvPr/>
        </p:nvSpPr>
        <p:spPr>
          <a:xfrm>
            <a:off x="1666875" y="3121074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https://kitrum.com/wp-content/uploads/2025/08/Medical-AI-Chatbot-2-n.webp</a:t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1666875" y="335443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kitrum.com</a:t>
            </a:r>
            <a:endParaRPr/>
          </a:p>
        </p:txBody>
      </p:sp>
      <p:pic>
        <p:nvPicPr>
          <p:cNvPr descr="image.png" id="246" name="Google Shape;24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854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5"/>
          <p:cNvSpPr txBox="1"/>
          <p:nvPr/>
        </p:nvSpPr>
        <p:spPr>
          <a:xfrm>
            <a:off x="1666875" y="3892599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https://media.easy-peasy.ai/27feb2bb-aeb4-4a83-9fb6-8f3f2a15885e/4a6b20f1-93d6-46c9-8160-82a790687788_medium.webp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1666875" y="412596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easy-peasy.ai</a:t>
            </a:r>
            <a:endParaRPr/>
          </a:p>
        </p:txBody>
      </p:sp>
      <p:pic>
        <p:nvPicPr>
          <p:cNvPr descr="image.png" id="249" name="Google Shape;24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569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5"/>
          <p:cNvSpPr txBox="1"/>
          <p:nvPr/>
        </p:nvSpPr>
        <p:spPr>
          <a:xfrm>
            <a:off x="1666875" y="4664124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https://images.prismic.io/inxiteout/aR2MHGGnmrmGqBAG_RAGSchematic-13-.jpg?auto=format,compress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1666875" y="489748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inxiteout.ai</a:t>
            </a:r>
            <a:endParaRPr/>
          </a:p>
        </p:txBody>
      </p:sp>
      <p:pic>
        <p:nvPicPr>
          <p:cNvPr descr="image.png" id="252" name="Google Shape;252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4285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1666875" y="5435649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https://d2908q01vomqb2.cloudfront.net/f1f836cb4ea6efb2a0b1b99f41ad8b103eff4b59/2025/09/25/ML-18400-image-2.png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1666875" y="566901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aws.amazon.com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